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web-based coffee ordering app built to apply core data structures and algorithms.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Workflow: input data, data structure operations, search/sort, algorithm processing, output. Stack: Python, Flask, SQLite, HTML/CSS/JS.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I: coffee menu stored as linked list nodes with CRUD; stack for bracket checking; queue for FIFO order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II: binary tree and BST for menu data, tree traversals, graph via adjacency list/matrix, BFS with a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III: linear vs binary search and insertion sort; complexity comparison; customers search coffees and see the sorted menu.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IV: greedy selection of the best valid offer for the cart. Example: Rs 500 cart, 10% vs 20% offers, greedy picks 20%, final total Rs 400.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822960"/>
            <a:ext cx="2377440" cy="2377440"/>
          </a:xfrm>
          <a:prstGeom prst="ellipse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675120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223760" y="1371600"/>
            <a:ext cx="1280160" cy="1280160"/>
          </a:xfrm>
          <a:prstGeom prst="ellipse">
            <a:avLst/>
          </a:prstGeom>
          <a:solidFill>
            <a:srgbClr val="D9893D"/>
          </a:solidFill>
          <a:ln w="12700">
            <a:solidFill>
              <a:srgbClr val="D989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223760" y="13716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ALGORITHMIC PROBLEM SOLVING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Coffee Ordering System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phases, from linked lists to greedy offers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7863840" cy="914400"/>
          </a:xfrm>
          <a:prstGeom prst="roundRect">
            <a:avLst>
              <a:gd name="adj" fmla="val 12000"/>
            </a:avLst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794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Natasha 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26MCAB36  |  MCA  |  Faculty Guide: Prof. Abinaya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app, four phases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view coffees and place orders; data structures and algorithms run underneath.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2B1810"/>
          </a:solidFill>
          <a:ln w="12700">
            <a:solidFill>
              <a:srgbClr val="2B181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4592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94560" y="16459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6459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operations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164592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40480" y="16459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2B1810"/>
          </a:solidFill>
          <a:ln w="12700">
            <a:solidFill>
              <a:srgbClr val="2B181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16459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sort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64592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0" y="16459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6459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processing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164592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32320" y="164592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2B1810"/>
          </a:solidFill>
          <a:ln w="12700">
            <a:solidFill>
              <a:srgbClr val="2B181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16459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F5EDE4"/>
          </a:solidFill>
          <a:ln w="12700">
            <a:solidFill>
              <a:srgbClr val="F5ED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685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023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901952" y="361188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F5EDE4"/>
          </a:solidFill>
          <a:ln w="12700">
            <a:solidFill>
              <a:srgbClr val="F5EDE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993392" y="3685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993392" y="4023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55264" y="361188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F5EDE4"/>
          </a:solidFill>
          <a:ln w="12700">
            <a:solidFill>
              <a:srgbClr val="F5ED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46704" y="3685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346704" y="4023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08576" y="361188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F5EDE4"/>
          </a:solidFill>
          <a:ln w="12700">
            <a:solidFill>
              <a:srgbClr val="F5ED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00016" y="3685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700016" y="4023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HTML·CSS·JS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61888" y="361188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F5EDE4"/>
          </a:solidFill>
          <a:ln w="12700">
            <a:solidFill>
              <a:srgbClr val="F5EDE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53328" y="3685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053328" y="4023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15200" y="3611880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F5EDE4"/>
          </a:solidFill>
          <a:ln w="12700">
            <a:solidFill>
              <a:srgbClr val="F5EDE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06640" y="3685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tool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406640" y="4023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Browser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2B1810"/>
          </a:solidFill>
          <a:ln w="12700">
            <a:solidFill>
              <a:srgbClr val="2B181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57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D98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286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Data Structures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023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List, Stack, Queue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0" y="41148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F5EDE4"/>
          </a:solidFill>
          <a:ln w="12700">
            <a:solidFill>
              <a:srgbClr val="F5ED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685800"/>
            <a:ext cx="548640" cy="548640"/>
          </a:xfrm>
          <a:prstGeom prst="ellipse">
            <a:avLst/>
          </a:prstGeom>
          <a:solidFill>
            <a:srgbClr val="D9893D"/>
          </a:solidFill>
          <a:ln w="12700">
            <a:solidFill>
              <a:srgbClr val="D989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685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548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114800" y="914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storage: each node holds a coffee record and a link to the next.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00400" y="169164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F5EDE4"/>
          </a:solidFill>
          <a:ln w="12700">
            <a:solidFill>
              <a:srgbClr val="F5ED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1965960"/>
            <a:ext cx="548640" cy="548640"/>
          </a:xfrm>
          <a:prstGeom prst="ellipse">
            <a:avLst/>
          </a:prstGeom>
          <a:solidFill>
            <a:srgbClr val="D9893D"/>
          </a:solidFill>
          <a:ln w="12700">
            <a:solidFill>
              <a:srgbClr val="D989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832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114800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(LIFO)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114800" y="21945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opening brackets, pop on match. Empty at the end means balanced, e.g. (A+B).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200400" y="297180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F5EDE4"/>
          </a:solidFill>
          <a:ln w="12700">
            <a:solidFill>
              <a:srgbClr val="F5EDE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83280" y="3246120"/>
            <a:ext cx="548640" cy="548640"/>
          </a:xfrm>
          <a:prstGeom prst="ellipse">
            <a:avLst/>
          </a:prstGeom>
          <a:solidFill>
            <a:srgbClr val="D9893D"/>
          </a:solidFill>
          <a:ln w="12700">
            <a:solidFill>
              <a:srgbClr val="D9893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832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114800" y="3108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(FIFO)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114800" y="3474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processed in the order received: first placed, first served.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200400" y="425196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2B1810"/>
          </a:solidFill>
          <a:ln w="12700">
            <a:solidFill>
              <a:srgbClr val="2B181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00400" y="4251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on menu:  Create  ·  Read  ·  Update  ·  Delete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2B1810"/>
          </a:solidFill>
          <a:ln w="12700">
            <a:solidFill>
              <a:srgbClr val="2B181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57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D98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286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&amp; Graph Structures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023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Tree, BST, Graph, BFS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0" y="41148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F5EDE4"/>
          </a:solidFill>
          <a:ln w="12700">
            <a:solidFill>
              <a:srgbClr val="F5ED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H="1">
            <a:off x="3840480" y="1051560"/>
            <a:ext cx="640080" cy="960120"/>
          </a:xfrm>
          <a:prstGeom prst="line">
            <a:avLst/>
          </a:prstGeom>
          <a:noFill/>
          <a:ln w="25400">
            <a:solidFill>
              <a:srgbClr val="6F4E3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1051560"/>
            <a:ext cx="640080" cy="960120"/>
          </a:xfrm>
          <a:prstGeom prst="line">
            <a:avLst/>
          </a:prstGeom>
          <a:noFill/>
          <a:ln w="25400">
            <a:solidFill>
              <a:srgbClr val="6F4E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0" y="640080"/>
            <a:ext cx="548640" cy="548640"/>
          </a:xfrm>
          <a:prstGeom prst="ellipse">
            <a:avLst/>
          </a:prstGeom>
          <a:solidFill>
            <a:srgbClr val="2B1810"/>
          </a:solidFill>
          <a:ln w="12700">
            <a:solidFill>
              <a:srgbClr val="2B181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0624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566160" y="1828800"/>
            <a:ext cx="548640" cy="548640"/>
          </a:xfrm>
          <a:prstGeom prst="ellipse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61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846320" y="1828800"/>
            <a:ext cx="548640" cy="548640"/>
          </a:xfrm>
          <a:prstGeom prst="ellipse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594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  </a:t>
            </a:r>
            <a:pPr indent="0" marL="0">
              <a:buNone/>
            </a:pPr>
            <a:r>
              <a:rPr lang="en-US" sz="1600" b="1" dirty="0">
                <a:solidFill>
                  <a:srgbClr val="D9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50, 30, 70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Root, Left, Right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  </a:t>
            </a:r>
            <a:pPr indent="0" marL="0">
              <a:buNone/>
            </a:pPr>
            <a:r>
              <a:rPr lang="en-US" sz="1600" b="1" dirty="0">
                <a:solidFill>
                  <a:srgbClr val="D9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30, 50, 70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Left, Root, Right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03504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  </a:t>
            </a:r>
            <a:pPr indent="0" marL="0">
              <a:buNone/>
            </a:pPr>
            <a:r>
              <a:rPr lang="en-US" sz="1600" b="1" dirty="0">
                <a:solidFill>
                  <a:srgbClr val="D9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30, 70, 50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Left, Right, Root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00400" y="31546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2B1810"/>
          </a:solidFill>
          <a:ln w="12700">
            <a:solidFill>
              <a:srgbClr val="2B181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83280" y="3291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8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 Tree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records keyed by ID or price for efficient access.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035040" y="31546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3291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D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+ BFS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list; BFS visits level by level: Menu, Hot, Cold, Cappuccino, Latte, Cold Brew.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2B1810"/>
          </a:solidFill>
          <a:ln w="12700">
            <a:solidFill>
              <a:srgbClr val="2B181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57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D98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286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 &amp; Sorting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023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Binary, Insertion Sort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0" y="41148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18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/ unsorted menu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DE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menu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Sort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menu sorting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EDE4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200400" y="274320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2B1810"/>
          </a:solidFill>
          <a:ln w="12700">
            <a:solidFill>
              <a:srgbClr val="2B181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83280" y="28803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8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checks items one by one. Binary halves a sorted range each step.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035040" y="274320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17920" y="28803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6D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orders coffees by price or name, then the menu displays sorted.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2B1810"/>
          </a:solidFill>
          <a:ln w="12700">
            <a:solidFill>
              <a:srgbClr val="2B181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57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D98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286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 Problem Solving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023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technique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0" y="41148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5EDE4"/>
          </a:solidFill>
          <a:ln w="12700">
            <a:solidFill>
              <a:srgbClr val="F5ED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37560" y="548640"/>
            <a:ext cx="457200" cy="457200"/>
          </a:xfrm>
          <a:prstGeom prst="ellipse">
            <a:avLst/>
          </a:prstGeom>
          <a:solidFill>
            <a:srgbClr val="D9893D"/>
          </a:solidFill>
          <a:ln w="12700">
            <a:solidFill>
              <a:srgbClr val="D989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3756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931920" y="411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cart total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5EDE4"/>
          </a:solidFill>
          <a:ln w="12700">
            <a:solidFill>
              <a:srgbClr val="F5ED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7560" y="1417320"/>
            <a:ext cx="457200" cy="457200"/>
          </a:xfrm>
          <a:prstGeom prst="ellipse">
            <a:avLst/>
          </a:prstGeom>
          <a:solidFill>
            <a:srgbClr val="D9893D"/>
          </a:solidFill>
          <a:ln w="12700">
            <a:solidFill>
              <a:srgbClr val="D989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375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931920" y="1280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valid offers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00400" y="214884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5EDE4"/>
          </a:solidFill>
          <a:ln w="12700">
            <a:solidFill>
              <a:srgbClr val="F5EDE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37560" y="2286000"/>
            <a:ext cx="457200" cy="457200"/>
          </a:xfrm>
          <a:prstGeom prst="ellipse">
            <a:avLst/>
          </a:prstGeom>
          <a:solidFill>
            <a:srgbClr val="D9893D"/>
          </a:solidFill>
          <a:ln w="12700">
            <a:solidFill>
              <a:srgbClr val="D989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375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93192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each discount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00400" y="301752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5EDE4"/>
          </a:solidFill>
          <a:ln w="12700">
            <a:solidFill>
              <a:srgbClr val="F5EDE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37560" y="3154680"/>
            <a:ext cx="457200" cy="457200"/>
          </a:xfrm>
          <a:prstGeom prst="ellipse">
            <a:avLst/>
          </a:prstGeom>
          <a:solidFill>
            <a:srgbClr val="D9893D"/>
          </a:solidFill>
          <a:ln w="12700">
            <a:solidFill>
              <a:srgbClr val="D9893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375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93192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maximum discount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200400" y="388620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5EDE4"/>
          </a:solidFill>
          <a:ln w="12700">
            <a:solidFill>
              <a:srgbClr val="F5EDE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337560" y="4023360"/>
            <a:ext cx="457200" cy="457200"/>
          </a:xfrm>
          <a:prstGeom prst="ellipse">
            <a:avLst/>
          </a:prstGeom>
          <a:solidFill>
            <a:srgbClr val="D9893D"/>
          </a:solidFill>
          <a:ln w="12700">
            <a:solidFill>
              <a:srgbClr val="D989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3375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3931920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at checkout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92240" y="411480"/>
            <a:ext cx="2194560" cy="4251960"/>
          </a:xfrm>
          <a:prstGeom prst="roundRect">
            <a:avLst>
              <a:gd name="adj" fmla="val 5000"/>
            </a:avLst>
          </a:prstGeom>
          <a:solidFill>
            <a:srgbClr val="2B1810"/>
          </a:solidFill>
          <a:ln w="12700">
            <a:solidFill>
              <a:srgbClr val="2B181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5120" y="594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EXAMPLE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91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₹500</a:t>
            </a:r>
            <a:endParaRPr lang="en-US" sz="3600" dirty="0"/>
          </a:p>
        </p:txBody>
      </p:sp>
      <p:sp>
        <p:nvSpPr>
          <p:cNvPr id="31" name="Text 28"/>
          <p:cNvSpPr txBox="1"/>
          <p:nvPr/>
        </p:nvSpPr>
        <p:spPr>
          <a:xfrm>
            <a:off x="667512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total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67512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vs 20%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67512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20%: highest immediate saving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67512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98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₹400</a:t>
            </a:r>
            <a:endParaRPr lang="en-US" sz="4400" dirty="0"/>
          </a:p>
        </p:txBody>
      </p:sp>
      <p:sp>
        <p:nvSpPr>
          <p:cNvPr id="35" name="Text 32"/>
          <p:cNvSpPr txBox="1"/>
          <p:nvPr/>
        </p:nvSpPr>
        <p:spPr>
          <a:xfrm>
            <a:off x="6675120" y="3794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total after ₹100 off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651760"/>
                <a:gridCol w="2468880"/>
                <a:gridCol w="2194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8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8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in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8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89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List, Stack, Queue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CRUD, brackets, order queue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Stored, processed records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F4E3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Tree, BST, Graph, BFS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menu, traversal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Traversal, efficient access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/ Binary Search, Insertion Sort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and arrange coffees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F4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result, sorted menu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F4E3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technique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valid offer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Discounted final 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241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working coffee ordering web app that demonstrates all four phases with a simple interface for customers and admins.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2026-10-23T03:47:13Z</dcterms:created>
  <dcterms:modified xsi:type="dcterms:W3CDTF">2026-10-23T03:47:13Z</dcterms:modified>
</cp:coreProperties>
</file>